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6sOMaGltHC8ntGvXlT7g1usmK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6f54524a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e6f54524a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e6f54524a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UbupQz8kKc-SVvQ4heR1v-tsACtUdMNS/view" TargetMode="External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57200" y="320040"/>
            <a:ext cx="2377440" cy="347472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457200" y="3200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EDGE AI  •  SEMESTER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Air-Writing Digit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Recognition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IMU + Vision-Based Ensemble Learning on Edge Hardware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3017520"/>
            <a:ext cx="4114800" cy="36576"/>
          </a:xfrm>
          <a:prstGeom prst="rect">
            <a:avLst/>
          </a:prstGeom>
          <a:solidFill>
            <a:srgbClr val="546E7A"/>
          </a:solidFill>
          <a:ln cap="flat" cmpd="sng" w="12700">
            <a:solidFill>
              <a:srgbClr val="546E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457200" y="32004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Team Members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3520440"/>
            <a:ext cx="3657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Amisha Sadhukhan (MTech CPS)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Tathagata Ghosh (MTech CDS)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Gaurav Chaudhary (Mtech CDS)</a:t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🔗  github.com/team/air-writing-recognition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217920" y="731520"/>
            <a:ext cx="2560320" cy="2560320"/>
          </a:xfrm>
          <a:prstGeom prst="ellipse">
            <a:avLst/>
          </a:prstGeom>
          <a:solidFill>
            <a:srgbClr val="1565C0">
              <a:alpha val="20000"/>
            </a:srgbClr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6675120" y="1188720"/>
            <a:ext cx="1645920" cy="1645920"/>
          </a:xfrm>
          <a:prstGeom prst="ellipse">
            <a:avLst/>
          </a:prstGeom>
          <a:solidFill>
            <a:srgbClr val="00B4D8">
              <a:alpha val="30196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7040880" y="1600200"/>
            <a:ext cx="914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✍️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Problem Statement &amp; Motivation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320040" y="1005840"/>
            <a:ext cx="2743200" cy="2377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4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320040" y="109728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📡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20040" y="164592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Noisy Sensor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29768" y="2103120"/>
            <a:ext cx="2523744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IMU signals from accelerometer, gyroscope &amp; magnetometer suffer from drift and inconsistency during free-hand air writing.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227832" y="1005840"/>
            <a:ext cx="2743200" cy="2377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4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3227832" y="109728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💡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227832" y="164592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Lighting Sensitivity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337560" y="2103120"/>
            <a:ext cx="2523744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Vision-based trajectory tracking using a green LED light source is affected by varying ambient lighting conditions.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135624" y="1005840"/>
            <a:ext cx="2743200" cy="2377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4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6135624" y="109728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135624" y="164592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Edge Constraints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245352" y="2103120"/>
            <a:ext cx="2523744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The system must run in real-time on Raspberry Pi and Arduino Nano—no cloud, low latency, minimal compute.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320040" y="3566160"/>
            <a:ext cx="8503920" cy="128016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57200" y="363931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🎯  Objectives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Multimodal real-time digit recognition  •  Edge-deployable AI models  •  Ensemble learning for robustness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/>
          <p:nvPr/>
        </p:nvSpPr>
        <p:spPr>
          <a:xfrm>
            <a:off x="320040" y="137160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320040" y="658368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Two parallel sensing branches — fused with ensemble learning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182880" y="1289304"/>
            <a:ext cx="1097280" cy="1554480"/>
          </a:xfrm>
          <a:prstGeom prst="rect">
            <a:avLst/>
          </a:prstGeom>
          <a:solidFill>
            <a:srgbClr val="1565C0"/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182880" y="1289304"/>
            <a:ext cx="10974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Air Writing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✍️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1417320" y="1207008"/>
            <a:ext cx="1261872" cy="749808"/>
          </a:xfrm>
          <a:prstGeom prst="rect">
            <a:avLst/>
          </a:prstGeom>
          <a:solidFill>
            <a:srgbClr val="1565C0"/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1417320" y="1207008"/>
            <a:ext cx="1261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2880360" y="1207008"/>
            <a:ext cx="1261872" cy="749808"/>
          </a:xfrm>
          <a:prstGeom prst="rect">
            <a:avLst/>
          </a:prstGeom>
          <a:solidFill>
            <a:srgbClr val="283593"/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2880360" y="1207008"/>
            <a:ext cx="1261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Extraction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343400" y="1207008"/>
            <a:ext cx="1261872" cy="749808"/>
          </a:xfrm>
          <a:prstGeom prst="rect">
            <a:avLst/>
          </a:prstGeom>
          <a:solidFill>
            <a:srgbClr val="006064"/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4343400" y="1207008"/>
            <a:ext cx="1261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Random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417320" y="2176272"/>
            <a:ext cx="1261872" cy="749808"/>
          </a:xfrm>
          <a:prstGeom prst="rect">
            <a:avLst/>
          </a:prstGeom>
          <a:solidFill>
            <a:srgbClr val="0277BD"/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417320" y="2176272"/>
            <a:ext cx="126187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Trajectory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2880360" y="2176272"/>
            <a:ext cx="1261872" cy="749808"/>
          </a:xfrm>
          <a:prstGeom prst="rect">
            <a:avLst/>
          </a:prstGeom>
          <a:solidFill>
            <a:srgbClr val="1A237E"/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2880360" y="2176272"/>
            <a:ext cx="126187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Trajectory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343400" y="2176272"/>
            <a:ext cx="1261872" cy="749808"/>
          </a:xfrm>
          <a:prstGeom prst="rect">
            <a:avLst/>
          </a:prstGeom>
          <a:solidFill>
            <a:srgbClr val="00838F"/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4343400" y="2176272"/>
            <a:ext cx="1261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GhostNet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CNN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308647" y="1289304"/>
            <a:ext cx="1298400" cy="1554600"/>
          </a:xfrm>
          <a:prstGeom prst="rect">
            <a:avLst/>
          </a:prstGeom>
          <a:solidFill>
            <a:srgbClr val="E65100"/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6242697" y="1289304"/>
            <a:ext cx="12984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Ensemble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417320" y="914400"/>
            <a:ext cx="3154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Arduino Nano 33 BLE Sense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417320" y="2990088"/>
            <a:ext cx="3154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Raspberry Pi 4 + Camera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" name="Google Shape;75;p3"/>
          <p:cNvCxnSpPr/>
          <p:nvPr/>
        </p:nvCxnSpPr>
        <p:spPr>
          <a:xfrm>
            <a:off x="1280160" y="2066544"/>
            <a:ext cx="68580" cy="9144"/>
          </a:xfrm>
          <a:prstGeom prst="straightConnector1">
            <a:avLst/>
          </a:prstGeom>
          <a:noFill/>
          <a:ln cap="flat" cmpd="sng" w="15225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" name="Google Shape;76;p3"/>
          <p:cNvCxnSpPr/>
          <p:nvPr/>
        </p:nvCxnSpPr>
        <p:spPr>
          <a:xfrm>
            <a:off x="1348740" y="1581912"/>
            <a:ext cx="9000" cy="969300"/>
          </a:xfrm>
          <a:prstGeom prst="straightConnector1">
            <a:avLst/>
          </a:prstGeom>
          <a:noFill/>
          <a:ln cap="flat" cmpd="sng" w="15225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" name="Google Shape;77;p3"/>
          <p:cNvCxnSpPr/>
          <p:nvPr/>
        </p:nvCxnSpPr>
        <p:spPr>
          <a:xfrm>
            <a:off x="1348740" y="1581912"/>
            <a:ext cx="68580" cy="9144"/>
          </a:xfrm>
          <a:prstGeom prst="straightConnector1">
            <a:avLst/>
          </a:prstGeom>
          <a:noFill/>
          <a:ln cap="flat" cmpd="sng" w="15225">
            <a:solidFill>
              <a:srgbClr val="90A4AE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8" name="Google Shape;78;p3"/>
          <p:cNvCxnSpPr/>
          <p:nvPr/>
        </p:nvCxnSpPr>
        <p:spPr>
          <a:xfrm>
            <a:off x="1348740" y="2551176"/>
            <a:ext cx="68580" cy="9144"/>
          </a:xfrm>
          <a:prstGeom prst="straightConnector1">
            <a:avLst/>
          </a:prstGeom>
          <a:noFill/>
          <a:ln cap="flat" cmpd="sng" w="15225">
            <a:solidFill>
              <a:srgbClr val="90A4AE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9" name="Google Shape;79;p3"/>
          <p:cNvCxnSpPr/>
          <p:nvPr/>
        </p:nvCxnSpPr>
        <p:spPr>
          <a:xfrm>
            <a:off x="2679192" y="1581912"/>
            <a:ext cx="201300" cy="9000"/>
          </a:xfrm>
          <a:prstGeom prst="straightConnector1">
            <a:avLst/>
          </a:prstGeom>
          <a:noFill/>
          <a:ln cap="flat" cmpd="sng" w="15225">
            <a:solidFill>
              <a:srgbClr val="90A4AE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0" name="Google Shape;80;p3"/>
          <p:cNvCxnSpPr/>
          <p:nvPr/>
        </p:nvCxnSpPr>
        <p:spPr>
          <a:xfrm>
            <a:off x="2679192" y="2551176"/>
            <a:ext cx="201300" cy="9000"/>
          </a:xfrm>
          <a:prstGeom prst="straightConnector1">
            <a:avLst/>
          </a:prstGeom>
          <a:noFill/>
          <a:ln cap="flat" cmpd="sng" w="15225">
            <a:solidFill>
              <a:srgbClr val="90A4AE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1" name="Google Shape;81;p3"/>
          <p:cNvCxnSpPr/>
          <p:nvPr/>
        </p:nvCxnSpPr>
        <p:spPr>
          <a:xfrm>
            <a:off x="4142232" y="1581912"/>
            <a:ext cx="201300" cy="9000"/>
          </a:xfrm>
          <a:prstGeom prst="straightConnector1">
            <a:avLst/>
          </a:prstGeom>
          <a:noFill/>
          <a:ln cap="flat" cmpd="sng" w="15225">
            <a:solidFill>
              <a:srgbClr val="90A4AE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2" name="Google Shape;82;p3"/>
          <p:cNvCxnSpPr/>
          <p:nvPr/>
        </p:nvCxnSpPr>
        <p:spPr>
          <a:xfrm>
            <a:off x="4142232" y="2551176"/>
            <a:ext cx="201300" cy="9000"/>
          </a:xfrm>
          <a:prstGeom prst="straightConnector1">
            <a:avLst/>
          </a:prstGeom>
          <a:noFill/>
          <a:ln cap="flat" cmpd="sng" w="15225">
            <a:solidFill>
              <a:srgbClr val="90A4AE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3" name="Google Shape;83;p3"/>
          <p:cNvCxnSpPr/>
          <p:nvPr/>
        </p:nvCxnSpPr>
        <p:spPr>
          <a:xfrm>
            <a:off x="5605272" y="1581912"/>
            <a:ext cx="164700" cy="9000"/>
          </a:xfrm>
          <a:prstGeom prst="straightConnector1">
            <a:avLst/>
          </a:prstGeom>
          <a:noFill/>
          <a:ln cap="flat" cmpd="sng" w="15225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3"/>
          <p:cNvCxnSpPr/>
          <p:nvPr/>
        </p:nvCxnSpPr>
        <p:spPr>
          <a:xfrm>
            <a:off x="5605272" y="2551176"/>
            <a:ext cx="164700" cy="9000"/>
          </a:xfrm>
          <a:prstGeom prst="straightConnector1">
            <a:avLst/>
          </a:prstGeom>
          <a:noFill/>
          <a:ln cap="flat" cmpd="sng" w="15225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" name="Google Shape;85;p3"/>
          <p:cNvCxnSpPr/>
          <p:nvPr/>
        </p:nvCxnSpPr>
        <p:spPr>
          <a:xfrm>
            <a:off x="5769864" y="1581912"/>
            <a:ext cx="9000" cy="969300"/>
          </a:xfrm>
          <a:prstGeom prst="straightConnector1">
            <a:avLst/>
          </a:prstGeom>
          <a:noFill/>
          <a:ln cap="flat" cmpd="sng" w="15225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" name="Google Shape;86;p3"/>
          <p:cNvCxnSpPr>
            <a:endCxn id="72" idx="1"/>
          </p:cNvCxnSpPr>
          <p:nvPr/>
        </p:nvCxnSpPr>
        <p:spPr>
          <a:xfrm>
            <a:off x="5769897" y="2066604"/>
            <a:ext cx="472800" cy="0"/>
          </a:xfrm>
          <a:prstGeom prst="straightConnector1">
            <a:avLst/>
          </a:prstGeom>
          <a:noFill/>
          <a:ln cap="flat" cmpd="sng" w="15225">
            <a:solidFill>
              <a:srgbClr val="90A4AE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7" name="Google Shape;87;p3"/>
          <p:cNvSpPr/>
          <p:nvPr/>
        </p:nvSpPr>
        <p:spPr>
          <a:xfrm>
            <a:off x="6096221" y="4251960"/>
            <a:ext cx="1828800" cy="475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6043446" y="4251960"/>
            <a:ext cx="1828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🏆  Final Digit Output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3"/>
          <p:cNvCxnSpPr>
            <a:stCxn id="72" idx="2"/>
          </p:cNvCxnSpPr>
          <p:nvPr/>
        </p:nvCxnSpPr>
        <p:spPr>
          <a:xfrm>
            <a:off x="6891897" y="2843904"/>
            <a:ext cx="4500" cy="1342200"/>
          </a:xfrm>
          <a:prstGeom prst="straightConnector1">
            <a:avLst/>
          </a:prstGeom>
          <a:noFill/>
          <a:ln cap="flat" cmpd="sng" w="15225">
            <a:solidFill>
              <a:srgbClr val="90A4AE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Collection &amp; Dashboard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ashboard.png" id="97" name="Google Shape;9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097280"/>
            <a:ext cx="5029200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4"/>
          <p:cNvSpPr/>
          <p:nvPr/>
        </p:nvSpPr>
        <p:spPr>
          <a:xfrm>
            <a:off x="5577840" y="1097280"/>
            <a:ext cx="329184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4F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5577840" y="1115568"/>
            <a:ext cx="128016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1,000+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858000" y="1115568"/>
            <a:ext cx="201168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Total Samples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5577840" y="2103120"/>
            <a:ext cx="329184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4F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5577840" y="2121408"/>
            <a:ext cx="128016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100+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858000" y="2121408"/>
            <a:ext cx="201168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Per Digit (0–9)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5577840" y="3108960"/>
            <a:ext cx="329184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4F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5577840" y="3127248"/>
            <a:ext cx="128016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6858000" y="3127248"/>
            <a:ext cx="201168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Modalities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577840" y="40233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Preprocessing Pipeline: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577840" y="429768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HSV Thresholding  •  Contour Extraction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Trajectory Smoothing  •  Augmentation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Trajectory Dataset — Sample Images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365760" y="65836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Augmented training batch: digits 0–9 captured via Raspberry Pi camera + green LED tracking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trajectory_samples.jpeg" id="116" name="Google Shape;11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051560"/>
            <a:ext cx="8595360" cy="338328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/>
          <p:nvPr/>
        </p:nvSpPr>
        <p:spPr>
          <a:xfrm>
            <a:off x="365760" y="4617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train = 1,175   |   val = 252   |   test = 252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0D1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Design &amp; Training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274320" y="1097280"/>
            <a:ext cx="4023360" cy="3474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274320" y="1097280"/>
            <a:ext cx="4023360" cy="384048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274320" y="1097280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IMU Branch — Random Forest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457200" y="1600200"/>
            <a:ext cx="3657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• 195 handcrafted features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• Mean, Std Dev, FFT, Energy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• Correlation &amp; Magnitude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• Deployed via micromlgen on Arduino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• On-device inference (C++ header)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457200" y="3566160"/>
            <a:ext cx="3657600" cy="640080"/>
          </a:xfrm>
          <a:prstGeom prst="rect">
            <a:avLst/>
          </a:prstGeom>
          <a:solidFill>
            <a:srgbClr val="E3F2FD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457200" y="356616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Accuracy: ~88%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4846320" y="1097280"/>
            <a:ext cx="4023360" cy="3474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4846320" y="1097280"/>
            <a:ext cx="4023360" cy="384048"/>
          </a:xfrm>
          <a:prstGeom prst="rect">
            <a:avLst/>
          </a:prstGeom>
          <a:solidFill>
            <a:srgbClr val="006064"/>
          </a:solidFill>
          <a:ln cap="flat" cmpd="sng" w="12700">
            <a:solidFill>
              <a:srgbClr val="0060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4846320" y="1097280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Vision Branch — GhostNet CNN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5029200" y="1600200"/>
            <a:ext cx="3657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• Lightweight GhostNet-inspired CNN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• Efficient Channel Attention (ECA)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• Mixup &amp; label smoothing augment.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• Cosine LR scheduler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• Quantization-Aware Training (QAT)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5029200" y="3566160"/>
            <a:ext cx="3657600" cy="640080"/>
          </a:xfrm>
          <a:prstGeom prst="rect">
            <a:avLst/>
          </a:prstGeom>
          <a:solidFill>
            <a:srgbClr val="E0F7FA"/>
          </a:solidFill>
          <a:ln cap="flat" cmpd="sng" w="12700">
            <a:solidFill>
              <a:srgbClr val="0060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5029200" y="356616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6064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6064"/>
                </a:solidFill>
                <a:latin typeface="Calibri"/>
                <a:ea typeface="Calibri"/>
                <a:cs typeface="Calibri"/>
                <a:sym typeface="Calibri"/>
              </a:rPr>
              <a:t>Accuracy: ~99%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&amp; Evaluation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320040" y="822960"/>
            <a:ext cx="2743200" cy="1371600"/>
          </a:xfrm>
          <a:prstGeom prst="rect">
            <a:avLst/>
          </a:prstGeom>
          <a:solidFill>
            <a:srgbClr val="1565C0"/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320040" y="822960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~88%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320040" y="164592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IMU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3246120" y="822960"/>
            <a:ext cx="2743200" cy="1371600"/>
          </a:xfrm>
          <a:prstGeom prst="rect">
            <a:avLst/>
          </a:prstGeom>
          <a:solidFill>
            <a:srgbClr val="006064"/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3246120" y="822960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~99%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3246120" y="164592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Vision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GhostNet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172200" y="822960"/>
            <a:ext cx="2743200" cy="1371600"/>
          </a:xfrm>
          <a:prstGeom prst="rect">
            <a:avLst/>
          </a:prstGeom>
          <a:solidFill>
            <a:srgbClr val="E65100"/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6172200" y="822960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~100%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6172200" y="164592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Ensemble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Prediction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274320" y="23317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Test Confusion Matrix (Vision Model)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onfusion_matrix.jpeg" id="153" name="Google Shape;153;p7"/>
          <p:cNvPicPr preferRelativeResize="0"/>
          <p:nvPr/>
        </p:nvPicPr>
        <p:blipFill rotWithShape="1">
          <a:blip r:embed="rId3">
            <a:alphaModFix/>
          </a:blip>
          <a:srcRect b="0" l="0" r="0" t="7843"/>
          <a:stretch/>
        </p:blipFill>
        <p:spPr>
          <a:xfrm>
            <a:off x="274325" y="2834650"/>
            <a:ext cx="4206225" cy="214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7"/>
          <p:cNvSpPr/>
          <p:nvPr/>
        </p:nvSpPr>
        <p:spPr>
          <a:xfrm>
            <a:off x="4846320" y="2331720"/>
            <a:ext cx="4023360" cy="265176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5029200" y="242316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5029200" y="2834640"/>
            <a:ext cx="3657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✔  Vision model correctly classified all digits in most test sessions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✔  Digit '8' had slight confusion with '0' (IMU branch)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✔  Ensemble resolved all ambiguous IMU predictions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✔  QAT retained accuracy with smaller model footprint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Edge Deployment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274320" y="10972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Raspberry Pi PyTorch Inference Log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rpi_inference.jpeg" id="165" name="Google Shape;1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463040"/>
            <a:ext cx="5029200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8"/>
          <p:cNvSpPr/>
          <p:nvPr/>
        </p:nvSpPr>
        <p:spPr>
          <a:xfrm>
            <a:off x="5577840" y="1097280"/>
            <a:ext cx="3291840" cy="3474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4F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5577840" y="1097280"/>
            <a:ext cx="3291840" cy="36576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5577840" y="109728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Deployment Details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5715000" y="1572768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Arduino: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6720840" y="1572768"/>
            <a:ext cx="2011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Random Forest in C++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via micromlgen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5715000" y="2377440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Raspberry Pi: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6720840" y="2377440"/>
            <a:ext cx="2011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GhostNet CNN via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PyTorch + QAT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5715000" y="3182112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Latency: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6720840" y="3182112"/>
            <a:ext cx="2011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~11 ms (RPi)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Real-time on Arduino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5715000" y="3986784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Confidence: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6720840" y="3986784"/>
            <a:ext cx="2011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89–94% typical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per inference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0D1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Challenges &amp; Future Work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320040" y="109728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⚠️  Key Challenges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320040" y="1508760"/>
            <a:ext cx="411480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320040" y="1508760"/>
            <a:ext cx="73152" cy="50292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502920" y="150876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Raspberry Pi lag → separated IMU &amp; vision pipelines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320040" y="2112264"/>
            <a:ext cx="411480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320040" y="2112264"/>
            <a:ext cx="73152" cy="50292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502920" y="2112264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Noisy IMU signals → feature engineering &amp; normalization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320040" y="2715768"/>
            <a:ext cx="411480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320040" y="2715768"/>
            <a:ext cx="73152" cy="50292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502920" y="2715768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Inconsistent trajectories → augmentation &amp; smoothing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320040" y="3319272"/>
            <a:ext cx="411480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320040" y="3319272"/>
            <a:ext cx="73152" cy="50292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502920" y="3319272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Lighting sensitivity → HSV threshold tuning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320040" y="3922776"/>
            <a:ext cx="411480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320040" y="3922776"/>
            <a:ext cx="73152" cy="50292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502920" y="3922776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Embedded constraints → GhostNet + QAT compression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4846320" y="109728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🚀  Future Work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4846320" y="1508760"/>
            <a:ext cx="4023360" cy="502920"/>
          </a:xfrm>
          <a:prstGeom prst="rect">
            <a:avLst/>
          </a:prstGeom>
          <a:solidFill>
            <a:srgbClr val="EEF6FF"/>
          </a:solidFill>
          <a:ln cap="flat" cmpd="sng" w="12700">
            <a:solidFill>
              <a:srgbClr val="D0E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4892040" y="1508760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🔤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5394960" y="150876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Alphabet &amp; word recognition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4846320" y="2112264"/>
            <a:ext cx="4023360" cy="502920"/>
          </a:xfrm>
          <a:prstGeom prst="rect">
            <a:avLst/>
          </a:prstGeom>
          <a:solidFill>
            <a:srgbClr val="EEF6FF"/>
          </a:solidFill>
          <a:ln cap="flat" cmpd="sng" w="12700">
            <a:solidFill>
              <a:srgbClr val="D0E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4892040" y="2112264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📶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5394960" y="2112264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BLE synchronized acquisition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4846320" y="2715768"/>
            <a:ext cx="4023360" cy="502920"/>
          </a:xfrm>
          <a:prstGeom prst="rect">
            <a:avLst/>
          </a:prstGeom>
          <a:solidFill>
            <a:srgbClr val="EEF6FF"/>
          </a:solidFill>
          <a:ln cap="flat" cmpd="sng" w="12700">
            <a:solidFill>
              <a:srgbClr val="D0E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4892040" y="2715768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📱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5394960" y="2715768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Mobile deployment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4846320" y="3319272"/>
            <a:ext cx="4023360" cy="502920"/>
          </a:xfrm>
          <a:prstGeom prst="rect">
            <a:avLst/>
          </a:prstGeom>
          <a:solidFill>
            <a:srgbClr val="EEF6FF"/>
          </a:solidFill>
          <a:ln cap="flat" cmpd="sng" w="12700">
            <a:solidFill>
              <a:srgbClr val="D0E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4892040" y="3319272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5394960" y="3319272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Transformer-based sequence models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4846320" y="3922776"/>
            <a:ext cx="4023360" cy="502920"/>
          </a:xfrm>
          <a:prstGeom prst="rect">
            <a:avLst/>
          </a:prstGeom>
          <a:solidFill>
            <a:srgbClr val="EEF6FF"/>
          </a:solidFill>
          <a:ln cap="flat" cmpd="sng" w="12700">
            <a:solidFill>
              <a:srgbClr val="D0E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4892040" y="3922776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🥽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5394960" y="3922776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AR/VR integration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6f54524ae_0_0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0D1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Demonstration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2" name="Google Shape;222;g3e6f54524ae_0_0" title="20260501_163113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1950" y="1170050"/>
            <a:ext cx="5979875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5943600" y="274320"/>
            <a:ext cx="2926080" cy="2926080"/>
          </a:xfrm>
          <a:prstGeom prst="ellipse">
            <a:avLst/>
          </a:prstGeom>
          <a:solidFill>
            <a:srgbClr val="1565C0">
              <a:alpha val="20000"/>
            </a:srgbClr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6492240" y="822960"/>
            <a:ext cx="1828800" cy="1828800"/>
          </a:xfrm>
          <a:prstGeom prst="ellipse">
            <a:avLst/>
          </a:prstGeom>
          <a:solidFill>
            <a:srgbClr val="00B4D8">
              <a:alpha val="2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6858000" y="1234440"/>
            <a:ext cx="1097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Calibri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✍️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457200" y="82296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457200" y="1783080"/>
            <a:ext cx="5486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Air-Writing Digit Recognition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Edge AI • Semester 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457200" y="2743200"/>
            <a:ext cx="5029200" cy="36576"/>
          </a:xfrm>
          <a:prstGeom prst="rect">
            <a:avLst/>
          </a:prstGeom>
          <a:solidFill>
            <a:srgbClr val="546E7A"/>
          </a:solidFill>
          <a:ln cap="flat" cmpd="sng" w="12700">
            <a:solidFill>
              <a:srgbClr val="546E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Amisha Sadhukhan  •  Tathagat Ghosh  •  Gaurav Chaudhary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🔗  github.com/team/air-writing-recognition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457200" y="393192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2026-05-02T10:33:04Z</dcterms:created>
  <dc:creator>PptxGenJS</dc:creator>
</cp:coreProperties>
</file>